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56" r:id="rId3"/>
    <p:sldId id="257" r:id="rId4"/>
    <p:sldId id="258" r:id="rId5"/>
    <p:sldId id="260" r:id="rId6"/>
    <p:sldId id="262" r:id="rId7"/>
    <p:sldId id="263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D7857-722A-4FA5-9E74-97C7CB2841DD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1330F-62E1-41F3-94CC-859586B16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1330F-62E1-41F3-94CC-859586B160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07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6CCF-E2DC-1999-5837-06ABC2946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FC0AC-72AB-F61B-6BCC-8A1A50371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E6ED7-AF8D-3BFA-C084-F12D94EB6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65862-1699-6651-D1D7-6C0548226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F1330F-62E1-41F3-94CC-859586B160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3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2ACB-E497-407A-EDA4-5E95773A0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DD381-7A31-A450-29A3-EC5FF3CA6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8C6EE-7D5F-3508-7AB7-FB9886BE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DB53F-B56F-8E50-1D8F-3C49E90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4FAF-26F6-23EA-9567-C5DEF9E9B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61FCF-D821-A4BB-2D7D-EFD65DAE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9D12-5A37-3612-DB01-33D987C36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DA179-F68B-A38D-BDC7-CB430EA4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2ADC6-0583-C213-CBAC-1F57C570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9AA69-B7EF-0470-86DB-FF4FC4CC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4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7D51-E375-FD10-606B-2A82E560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1173F-91BA-C4A4-258B-2BED3D23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391E-4153-6498-EB1B-CE9A335E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FC9AF-6AF6-05FD-2716-1812F201C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E24BA-188B-2D73-29AC-85E516FE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00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A491-DEDA-6FF4-DC17-EB8F9B73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386B3-FD9E-997F-6186-4C4B6279F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4C4D2-4FC9-ACDF-E1A3-0C73B804A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F60FE-50FF-D347-0CE9-CFCE8C61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C72A1-40CF-DF60-1755-0A7602A2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C28CC-8734-0C48-557B-8BFABB80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26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4F9B-1B01-858B-5DAD-D1A38C03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827F3-260B-F891-496D-605FA1CCE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6B5F1-6F83-953F-AA28-7E81A9FFC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CE08E-76DF-1EEF-9556-E149D3DE1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1727D1-67C6-F8CB-5628-4ADDD1831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27E324-BC46-2C9D-F2E7-9EA9FCD9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9F1ED-8F24-7B06-84D4-FFB40A14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D80DD-7481-ABBB-5BE2-EA51D43D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0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3C89-C176-292F-FF97-CD408F95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41262-B9C7-D4EF-D411-1DC7C7D4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18E22-F669-5A97-DDC3-3D6D60A32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33563-9D33-9662-2893-2D14E22F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6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1A43B-7BD7-EE5C-1340-31C98757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873FF-0857-1EF7-D58D-5ABBBD59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5D679-4DA4-FCCC-E320-41B7D37C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3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D90FB-6E5C-47FD-E0EC-E97DDC8B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5547A-58FF-7F84-20CC-8A87AB3E6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DE043-A357-B021-423B-7A9417A34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49E9E6-11BF-4AA6-3A26-FBAF92BF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556F3-9A07-E2A1-163F-543B1C7A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168CB-22D9-3B3C-7F0C-7177B12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7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D61B2-4A3F-4DF2-8CE2-702210D5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AE29A-0BA1-87CD-C3B8-B292E9F87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A5469-A3D3-4D14-7474-24423548A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46D34-83F9-954A-C33C-AF808435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BD265-6B79-50D1-1D3C-70ACBC55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D1B0C-7885-F8A4-8D85-ED863AAB5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64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0619B-4BF1-C30E-80DA-F5A06595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3F9B2-3A37-0C6F-A1AD-446B55042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F961-ADA6-4953-4458-54A383CF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D44B6-9F21-9394-626C-78F416BF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9F03C-3C96-DE09-355A-B5CF122B4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67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4F4F6-3D26-A352-5CAE-DC13199D37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BD26F-C38E-C76C-FFE3-FB6909577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65929-28A9-068E-597B-23ACC158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1B496-C658-45E1-EBAB-BAB4FA76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673A-CF47-FDCD-C776-6E94F40E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4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F64212-9A56-A872-7625-591AC85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F68B5-FED2-D8E3-613B-9E5D87FB5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A8C08-3A0C-4975-BB9D-16003A29B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5DA38-8EDB-4AA2-9430-B8F7B9BA2773}" type="datetimeFigureOut">
              <a:rPr lang="en-US" smtClean="0"/>
              <a:t>26/07/27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37C91-C1AB-BD94-3593-DE68229CB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622FC-C026-01B2-A855-C718D6AC2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A0716D-8934-4633-BD77-E459C8E1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93F8-92ED-B1BF-462C-5768776B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038" y="2104372"/>
            <a:ext cx="10515600" cy="738710"/>
          </a:xfrm>
        </p:spPr>
        <p:txBody>
          <a:bodyPr/>
          <a:lstStyle/>
          <a:p>
            <a:r>
              <a:rPr lang="en-US" dirty="0"/>
              <a:t>ME-366:  Electro-Mechanical System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44744C-8642-21D2-771B-585BBF1B8453}"/>
              </a:ext>
            </a:extLst>
          </p:cNvPr>
          <p:cNvSpPr/>
          <p:nvPr/>
        </p:nvSpPr>
        <p:spPr>
          <a:xfrm>
            <a:off x="7252570" y="4123891"/>
            <a:ext cx="4939430" cy="8517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50800" dir="5400000" algn="ctr" rotWithShape="0">
              <a:schemeClr val="bg1">
                <a:lumMod val="8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Group – A7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341C3B-7F8A-B81C-3985-12F02295B708}"/>
              </a:ext>
            </a:extLst>
          </p:cNvPr>
          <p:cNvSpPr txBox="1"/>
          <p:nvPr/>
        </p:nvSpPr>
        <p:spPr>
          <a:xfrm>
            <a:off x="2329840" y="3040269"/>
            <a:ext cx="65385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Project Update</a:t>
            </a:r>
          </a:p>
          <a:p>
            <a:pPr algn="ctr"/>
            <a:r>
              <a:rPr lang="en-US" sz="2800" b="1" dirty="0"/>
              <a:t>Week – 05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8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7EBD3ED-E6E0-7C54-FD20-1A1006EB7852}"/>
              </a:ext>
            </a:extLst>
          </p:cNvPr>
          <p:cNvSpPr/>
          <p:nvPr/>
        </p:nvSpPr>
        <p:spPr>
          <a:xfrm>
            <a:off x="4171167" y="1"/>
            <a:ext cx="7900793" cy="6858000"/>
          </a:xfrm>
          <a:prstGeom prst="rect">
            <a:avLst/>
          </a:prstGeom>
          <a:gradFill>
            <a:gsLst>
              <a:gs pos="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alpha val="0"/>
                  <a:lumMod val="10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5F4B23D7-7E99-76D8-3F3B-267301F20584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96130BB9-9609-940F-2862-73A276E713CF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F9A9F0-B00A-401D-C9ED-CD4B7C04A994}"/>
              </a:ext>
            </a:extLst>
          </p:cNvPr>
          <p:cNvSpPr txBox="1"/>
          <p:nvPr/>
        </p:nvSpPr>
        <p:spPr>
          <a:xfrm rot="5400000">
            <a:off x="1796905" y="2775802"/>
            <a:ext cx="21780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01 </a:t>
            </a:r>
          </a:p>
          <a:p>
            <a:pPr algn="ctr"/>
            <a:r>
              <a:rPr lang="en-US" sz="4000" b="1" dirty="0"/>
              <a:t>Chassis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9884F-4093-6379-DC09-B4C4130FE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144" y="4080011"/>
            <a:ext cx="3589807" cy="27960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DEA420-EB87-DBB8-4FE6-E5D8FBAA4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928" y="1283967"/>
            <a:ext cx="3728059" cy="27960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4701B1D-53FC-77AD-8B62-75364A75C4EA}"/>
              </a:ext>
            </a:extLst>
          </p:cNvPr>
          <p:cNvSpPr txBox="1"/>
          <p:nvPr/>
        </p:nvSpPr>
        <p:spPr>
          <a:xfrm>
            <a:off x="5908371" y="180319"/>
            <a:ext cx="501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Making the Chassis by Sheet Metal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DD8FF-A92D-F430-F24B-D09F8C0F42AE}"/>
              </a:ext>
            </a:extLst>
          </p:cNvPr>
          <p:cNvSpPr txBox="1"/>
          <p:nvPr/>
        </p:nvSpPr>
        <p:spPr>
          <a:xfrm>
            <a:off x="4874608" y="1838823"/>
            <a:ext cx="244278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Dimensions</a:t>
            </a:r>
          </a:p>
          <a:p>
            <a:pPr algn="ctr"/>
            <a:endParaRPr lang="en-US" b="1" dirty="0"/>
          </a:p>
          <a:p>
            <a:pPr algn="ctr"/>
            <a:r>
              <a:rPr lang="en-US" sz="2400" b="1" dirty="0"/>
              <a:t>length = 435 mm</a:t>
            </a:r>
          </a:p>
          <a:p>
            <a:pPr algn="ctr"/>
            <a:r>
              <a:rPr lang="en-US" sz="2400" b="1" dirty="0"/>
              <a:t>Width= 300 mm</a:t>
            </a:r>
            <a:endParaRPr lang="en-US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A4E6E3-50F9-FA5B-EEBD-5FFD8F19C495}"/>
              </a:ext>
            </a:extLst>
          </p:cNvPr>
          <p:cNvSpPr txBox="1"/>
          <p:nvPr/>
        </p:nvSpPr>
        <p:spPr>
          <a:xfrm>
            <a:off x="8204315" y="5096979"/>
            <a:ext cx="37280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Sheet Metal  thickness = 0.75mm </a:t>
            </a:r>
          </a:p>
        </p:txBody>
      </p:sp>
    </p:spTree>
    <p:extLst>
      <p:ext uri="{BB962C8B-B14F-4D97-AF65-F5344CB8AC3E}">
        <p14:creationId xmlns:p14="http://schemas.microsoft.com/office/powerpoint/2010/main" val="1386774027"/>
      </p:ext>
    </p:extLst>
  </p:cSld>
  <p:clrMapOvr>
    <a:masterClrMapping/>
  </p:clrMapOvr>
  <p:transition spd="med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EE9E5-FDC1-9E51-D69C-03A158EF4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E0E6B50E-39AC-B771-6407-A6865D46B8DA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F6BA8D95-021F-ABB8-A06F-8DDE62CD0685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00D7B1-7FA6-17E6-1E8D-DE5517B533B4}"/>
              </a:ext>
            </a:extLst>
          </p:cNvPr>
          <p:cNvSpPr txBox="1"/>
          <p:nvPr/>
        </p:nvSpPr>
        <p:spPr>
          <a:xfrm rot="5400000">
            <a:off x="1840887" y="2682340"/>
            <a:ext cx="21780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02 </a:t>
            </a:r>
          </a:p>
          <a:p>
            <a:pPr algn="ctr"/>
            <a:r>
              <a:rPr lang="en-US" sz="4000" b="1" dirty="0"/>
              <a:t>Chassis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75AF0A-2792-EE9D-0203-4E8620309D62}"/>
              </a:ext>
            </a:extLst>
          </p:cNvPr>
          <p:cNvSpPr txBox="1"/>
          <p:nvPr/>
        </p:nvSpPr>
        <p:spPr>
          <a:xfrm>
            <a:off x="5908371" y="180319"/>
            <a:ext cx="501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Making the Chassis by Sheet Metal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63BF04-17D5-0EDF-DF67-49B7D619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923" y="3007142"/>
            <a:ext cx="3703897" cy="2667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F145B0-C5F4-79EC-E02B-2D0298E82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396" y="1492991"/>
            <a:ext cx="3273468" cy="34263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190EBE-26A9-9828-01ED-C2A8E5B9196A}"/>
              </a:ext>
            </a:extLst>
          </p:cNvPr>
          <p:cNvSpPr txBox="1"/>
          <p:nvPr/>
        </p:nvSpPr>
        <p:spPr>
          <a:xfrm>
            <a:off x="9291370" y="859433"/>
            <a:ext cx="2234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VIEW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C88869-939D-0C25-C552-D948D18A94CF}"/>
              </a:ext>
            </a:extLst>
          </p:cNvPr>
          <p:cNvSpPr txBox="1"/>
          <p:nvPr/>
        </p:nvSpPr>
        <p:spPr>
          <a:xfrm>
            <a:off x="4997038" y="5849144"/>
            <a:ext cx="2197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SIDE VIEW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5F86AF6-990A-C665-E300-8AFF03560491}"/>
              </a:ext>
            </a:extLst>
          </p:cNvPr>
          <p:cNvSpPr/>
          <p:nvPr/>
        </p:nvSpPr>
        <p:spPr>
          <a:xfrm>
            <a:off x="10009575" y="3585733"/>
            <a:ext cx="521109" cy="49465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D494139-FB62-AA76-ACEF-7EBBE81ADD34}"/>
              </a:ext>
            </a:extLst>
          </p:cNvPr>
          <p:cNvSpPr/>
          <p:nvPr/>
        </p:nvSpPr>
        <p:spPr>
          <a:xfrm rot="16200000">
            <a:off x="9585645" y="4596032"/>
            <a:ext cx="1448311" cy="450413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67629-A159-23EF-BA27-1FE19C3DB55A}"/>
              </a:ext>
            </a:extLst>
          </p:cNvPr>
          <p:cNvSpPr txBox="1"/>
          <p:nvPr/>
        </p:nvSpPr>
        <p:spPr>
          <a:xfrm>
            <a:off x="8849033" y="5541367"/>
            <a:ext cx="3156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Arm mount will fit here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A0B11A-CBF0-3B3F-00FD-240B7827F969}"/>
              </a:ext>
            </a:extLst>
          </p:cNvPr>
          <p:cNvSpPr/>
          <p:nvPr/>
        </p:nvSpPr>
        <p:spPr>
          <a:xfrm>
            <a:off x="6784258" y="4097083"/>
            <a:ext cx="226142" cy="24367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AB294EA-4315-6C65-AF76-FE1CBC21E585}"/>
              </a:ext>
            </a:extLst>
          </p:cNvPr>
          <p:cNvSpPr/>
          <p:nvPr/>
        </p:nvSpPr>
        <p:spPr>
          <a:xfrm rot="5400000">
            <a:off x="6103037" y="3062462"/>
            <a:ext cx="1588584" cy="37979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95EE0-F4EE-3CAB-DC54-AE34820AFD2E}"/>
              </a:ext>
            </a:extLst>
          </p:cNvPr>
          <p:cNvSpPr txBox="1"/>
          <p:nvPr/>
        </p:nvSpPr>
        <p:spPr>
          <a:xfrm>
            <a:off x="5870982" y="2001345"/>
            <a:ext cx="2422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Motor and wheel </a:t>
            </a:r>
          </a:p>
        </p:txBody>
      </p:sp>
    </p:spTree>
    <p:extLst>
      <p:ext uri="{BB962C8B-B14F-4D97-AF65-F5344CB8AC3E}">
        <p14:creationId xmlns:p14="http://schemas.microsoft.com/office/powerpoint/2010/main" val="829925288"/>
      </p:ext>
    </p:extLst>
  </p:cSld>
  <p:clrMapOvr>
    <a:masterClrMapping/>
  </p:clrMapOvr>
  <p:transition spd="med">
    <p:split orient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4B751-BF4D-625A-FF7F-954AB2F1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F9259638-DBBE-B262-6568-C3CA0CF71722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BB28B941-C10D-1761-4258-986B15413B7B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BA396-C32C-B9BC-D4A7-29219D683041}"/>
              </a:ext>
            </a:extLst>
          </p:cNvPr>
          <p:cNvSpPr txBox="1"/>
          <p:nvPr/>
        </p:nvSpPr>
        <p:spPr>
          <a:xfrm rot="5400000">
            <a:off x="1731284" y="2734352"/>
            <a:ext cx="21780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03 </a:t>
            </a:r>
          </a:p>
          <a:p>
            <a:pPr algn="ctr"/>
            <a:r>
              <a:rPr lang="en-US" sz="4000" b="1" dirty="0"/>
              <a:t>ARM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BF1B90-D514-61FD-71BE-3C9E30B74F57}"/>
              </a:ext>
            </a:extLst>
          </p:cNvPr>
          <p:cNvSpPr txBox="1"/>
          <p:nvPr/>
        </p:nvSpPr>
        <p:spPr>
          <a:xfrm>
            <a:off x="5688905" y="167793"/>
            <a:ext cx="501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Making the Arm by 3D printing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6FA7B-A283-0D58-B180-0AB2D8D02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184" y="1014607"/>
            <a:ext cx="4077161" cy="2971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37D3F8-6A85-AA3E-66D7-FCF9B6E48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5445" y="3986476"/>
            <a:ext cx="3653425" cy="2764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BC6E0A-7DC8-E457-2FB2-3683883C6913}"/>
              </a:ext>
            </a:extLst>
          </p:cNvPr>
          <p:cNvSpPr txBox="1"/>
          <p:nvPr/>
        </p:nvSpPr>
        <p:spPr>
          <a:xfrm>
            <a:off x="3995803" y="1110846"/>
            <a:ext cx="40771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Advantages of 3D Printing the Arm :</a:t>
            </a:r>
          </a:p>
          <a:p>
            <a:endParaRPr lang="en-US" b="1" dirty="0"/>
          </a:p>
          <a:p>
            <a:r>
              <a:rPr lang="en-US" b="1" dirty="0"/>
              <a:t> Lightweight</a:t>
            </a:r>
            <a:r>
              <a:rPr lang="en-US" dirty="0"/>
              <a:t> — plastic is far lighter than metal, reducing the load the motors/servos have to carry and lowering overall system weight.</a:t>
            </a:r>
          </a:p>
          <a:p>
            <a:r>
              <a:rPr lang="en-US" b="1" dirty="0"/>
              <a:t>Design flexibility</a:t>
            </a:r>
            <a:r>
              <a:rPr lang="en-US" dirty="0"/>
              <a:t> — complex shapes, curves, and internal features</a:t>
            </a:r>
          </a:p>
          <a:p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B0032-7AAB-D314-4F60-A4C71B72198B}"/>
              </a:ext>
            </a:extLst>
          </p:cNvPr>
          <p:cNvSpPr txBox="1"/>
          <p:nvPr/>
        </p:nvSpPr>
        <p:spPr>
          <a:xfrm>
            <a:off x="8108512" y="4418508"/>
            <a:ext cx="38079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Adjustable strength-to-weight ratio</a:t>
            </a:r>
            <a:r>
              <a:rPr lang="en-US" dirty="0"/>
              <a:t> — infill density can be to balance strength and weight exactly where needed</a:t>
            </a:r>
          </a:p>
          <a:p>
            <a:r>
              <a:rPr lang="en-US" b="1" dirty="0"/>
              <a:t>Easy and fast to fabricate</a:t>
            </a:r>
            <a:r>
              <a:rPr lang="en-US" dirty="0"/>
              <a:t> — no cutting, welding, or specialized tooling needed; just print, remove supports, and it's ready.</a:t>
            </a:r>
          </a:p>
        </p:txBody>
      </p:sp>
    </p:spTree>
    <p:extLst>
      <p:ext uri="{BB962C8B-B14F-4D97-AF65-F5344CB8AC3E}">
        <p14:creationId xmlns:p14="http://schemas.microsoft.com/office/powerpoint/2010/main" val="4018928440"/>
      </p:ext>
    </p:extLst>
  </p:cSld>
  <p:clrMapOvr>
    <a:masterClrMapping/>
  </p:clrMapOvr>
  <p:transition spd="med"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59E62-052C-573C-4A99-6CE6A323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4EB821D8-640C-91F0-FD89-235BCDD003E3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7C959726-BCBE-99BB-E2EA-BBE05693469D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BAB64-8BFB-D1B9-9EC1-F19DDDD0DB1F}"/>
              </a:ext>
            </a:extLst>
          </p:cNvPr>
          <p:cNvSpPr txBox="1"/>
          <p:nvPr/>
        </p:nvSpPr>
        <p:spPr>
          <a:xfrm rot="5400000">
            <a:off x="1731284" y="2734352"/>
            <a:ext cx="21780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04 </a:t>
            </a:r>
          </a:p>
          <a:p>
            <a:pPr algn="ctr"/>
            <a:r>
              <a:rPr lang="en-US" sz="4000" b="1" dirty="0"/>
              <a:t>ARM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485E59-D728-391B-3652-F6A7F088C31B}"/>
              </a:ext>
            </a:extLst>
          </p:cNvPr>
          <p:cNvSpPr txBox="1"/>
          <p:nvPr/>
        </p:nvSpPr>
        <p:spPr>
          <a:xfrm>
            <a:off x="5688905" y="167793"/>
            <a:ext cx="501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Making the Arm by 3D printing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7C57EB-429E-CA51-CC84-597E1235B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710" y="771834"/>
            <a:ext cx="4041316" cy="28857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E6091B-AF93-0843-2028-5A7B21018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570" y="3912050"/>
            <a:ext cx="3581474" cy="2568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73CE12-0299-DBFF-5DCF-18D2C74C7217}"/>
              </a:ext>
            </a:extLst>
          </p:cNvPr>
          <p:cNvSpPr txBox="1"/>
          <p:nvPr/>
        </p:nvSpPr>
        <p:spPr>
          <a:xfrm>
            <a:off x="3995803" y="1037304"/>
            <a:ext cx="3811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Total mass of the arm is about    218 gm</a:t>
            </a:r>
          </a:p>
        </p:txBody>
      </p:sp>
    </p:spTree>
    <p:extLst>
      <p:ext uri="{BB962C8B-B14F-4D97-AF65-F5344CB8AC3E}">
        <p14:creationId xmlns:p14="http://schemas.microsoft.com/office/powerpoint/2010/main" val="4106399617"/>
      </p:ext>
    </p:extLst>
  </p:cSld>
  <p:clrMapOvr>
    <a:masterClrMapping/>
  </p:clrMapOvr>
  <p:transition spd="med"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0C07-687C-6672-1FC4-4E337221A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0FFABEF0-4EA9-5493-9CCB-B45909516960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FBCE3828-F277-9B56-201A-4A0F44C4B350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A7658-479E-82BE-10FD-F15FBBD2D4A9}"/>
              </a:ext>
            </a:extLst>
          </p:cNvPr>
          <p:cNvSpPr txBox="1"/>
          <p:nvPr/>
        </p:nvSpPr>
        <p:spPr>
          <a:xfrm rot="5400000">
            <a:off x="1840887" y="2774673"/>
            <a:ext cx="2178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05</a:t>
            </a:r>
          </a:p>
          <a:p>
            <a:pPr algn="ctr"/>
            <a:r>
              <a:rPr lang="en-US" sz="2800" b="1" dirty="0"/>
              <a:t>Motor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C96DBA-D8D6-B7D4-606A-454138E71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790092"/>
              </p:ext>
            </p:extLst>
          </p:nvPr>
        </p:nvGraphicFramePr>
        <p:xfrm>
          <a:off x="3995801" y="851092"/>
          <a:ext cx="8044170" cy="5873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170">
                  <a:extLst>
                    <a:ext uri="{9D8B030D-6E8A-4147-A177-3AD203B41FA5}">
                      <a16:colId xmlns:a16="http://schemas.microsoft.com/office/drawing/2014/main" val="10471649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1688185"/>
                    </a:ext>
                  </a:extLst>
                </a:gridCol>
              </a:tblGrid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909166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Analog RC servo, metal gear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449182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Operating voltage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4.8 V – 7.2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228230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Stall torque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9.4 kg·cm @ 4.8 V, 11 kg·cm @ 6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07351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Operating speed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0.20 s/60° @ 4.8 V, 0.16 s/60° @ 6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008491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Rotation angle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~180° (some variants 360°)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130389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No-load current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170 mA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000270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Stall current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~1.2 A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635615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Weight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55 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323917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Dimensions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40.7 × 19.7 × 42.9 mm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097073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 signal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PWM, 50 Hz, 600–2400 µs pulse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774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42B0917-C3B4-4DF1-6989-4414A9047AA3}"/>
              </a:ext>
            </a:extLst>
          </p:cNvPr>
          <p:cNvSpPr txBox="1"/>
          <p:nvPr/>
        </p:nvSpPr>
        <p:spPr>
          <a:xfrm>
            <a:off x="5255288" y="20095"/>
            <a:ext cx="5245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Motor details</a:t>
            </a:r>
          </a:p>
          <a:p>
            <a:pPr algn="ctr"/>
            <a:r>
              <a:rPr lang="en-US" sz="2400" dirty="0"/>
              <a:t>MG995 Servo Motor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70304118"/>
      </p:ext>
    </p:extLst>
  </p:cSld>
  <p:clrMapOvr>
    <a:masterClrMapping/>
  </p:clrMapOvr>
  <p:transition spd="med">
    <p:split orient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BAF5-ABA8-F9FF-D87D-E644B9ED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B4084866-0125-C6C6-D2B7-E1463E4CC18E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F6C6C673-0652-D9C6-D1EF-9ADE722D7DDF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09CA8-0687-FE3A-6E67-C191B6CB2C6E}"/>
              </a:ext>
            </a:extLst>
          </p:cNvPr>
          <p:cNvSpPr txBox="1"/>
          <p:nvPr/>
        </p:nvSpPr>
        <p:spPr>
          <a:xfrm rot="5400000">
            <a:off x="1840887" y="2774673"/>
            <a:ext cx="2178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06</a:t>
            </a:r>
          </a:p>
          <a:p>
            <a:pPr algn="ctr"/>
            <a:r>
              <a:rPr lang="en-US" sz="2800" b="1" dirty="0"/>
              <a:t>Motor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FE896C-CC3E-9CBB-2F13-F5B968F9F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36944"/>
              </p:ext>
            </p:extLst>
          </p:nvPr>
        </p:nvGraphicFramePr>
        <p:xfrm>
          <a:off x="3995801" y="851092"/>
          <a:ext cx="8044170" cy="5339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170">
                  <a:extLst>
                    <a:ext uri="{9D8B030D-6E8A-4147-A177-3AD203B41FA5}">
                      <a16:colId xmlns:a16="http://schemas.microsoft.com/office/drawing/2014/main" val="10471649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1688185"/>
                    </a:ext>
                  </a:extLst>
                </a:gridCol>
              </a:tblGrid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909166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Digital RC servo, metal gear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449182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Operating voltage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4.8 V – 7.2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228230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Stall torque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20.5 kg·cm @ 4.8 V, 22.8 kg·cm @ 7.2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07351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No-load speed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0.18 s/60° @ 4.8 V, 0.14 s/60° @ 7.2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008491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Rotation angle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180° / 270° / 360° (variant-dependent)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130389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Stall current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2.1 A @ 4.8 V, 2.7 A @ 7.2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000270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Weight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56 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635615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Dimensions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40.0 × 20.5 × 40.5 mm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323917"/>
                  </a:ext>
                </a:extLst>
              </a:tr>
              <a:tr h="533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 signal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PWM, 500–2500 µs, 1500 µs neutral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0970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DA7A954-2D0D-53D4-599D-72DD035B2299}"/>
              </a:ext>
            </a:extLst>
          </p:cNvPr>
          <p:cNvSpPr txBox="1"/>
          <p:nvPr/>
        </p:nvSpPr>
        <p:spPr>
          <a:xfrm>
            <a:off x="5255288" y="20095"/>
            <a:ext cx="5245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Motor details</a:t>
            </a:r>
          </a:p>
          <a:p>
            <a:pPr algn="ctr"/>
            <a:r>
              <a:rPr lang="en-US" sz="2400" dirty="0"/>
              <a:t>TD-8120MG Servo Motor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42056806"/>
      </p:ext>
    </p:extLst>
  </p:cSld>
  <p:clrMapOvr>
    <a:masterClrMapping/>
  </p:clrMapOvr>
  <p:transition spd="med"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500C-7062-7B6C-B39E-BB9C4270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4135C765-11D6-A256-7DD4-CB486F2A9AC1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7DC41CC3-0698-F41E-66B1-6E8333451B05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D84D0F-897B-1A5B-53CC-94714A0F6E23}"/>
              </a:ext>
            </a:extLst>
          </p:cNvPr>
          <p:cNvSpPr txBox="1"/>
          <p:nvPr/>
        </p:nvSpPr>
        <p:spPr>
          <a:xfrm rot="5400000">
            <a:off x="1840887" y="2774673"/>
            <a:ext cx="2178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07</a:t>
            </a:r>
          </a:p>
          <a:p>
            <a:pPr algn="ctr"/>
            <a:r>
              <a:rPr lang="en-US" sz="2800" b="1" dirty="0"/>
              <a:t>Motor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040D7A-A136-E153-DA7E-7DA4F3281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322997"/>
              </p:ext>
            </p:extLst>
          </p:nvPr>
        </p:nvGraphicFramePr>
        <p:xfrm>
          <a:off x="3995801" y="851094"/>
          <a:ext cx="8044170" cy="5353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0170">
                  <a:extLst>
                    <a:ext uri="{9D8B030D-6E8A-4147-A177-3AD203B41FA5}">
                      <a16:colId xmlns:a16="http://schemas.microsoft.com/office/drawing/2014/main" val="10471649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51688185"/>
                    </a:ext>
                  </a:extLst>
                </a:gridCol>
              </a:tblGrid>
              <a:tr h="47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Specification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909166"/>
                  </a:ext>
                </a:extLst>
              </a:tr>
              <a:tr h="596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Brushed DC motor + metal spur gearbox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449182"/>
                  </a:ext>
                </a:extLst>
              </a:tr>
              <a:tr h="47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Operating voltage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 V – 12 V (rated 12 V)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228230"/>
                  </a:ext>
                </a:extLst>
              </a:tr>
              <a:tr h="596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No-load speed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≈282–300 RPM @ 12 V (nearest catalog step)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307351"/>
                  </a:ext>
                </a:extLst>
              </a:tr>
              <a:tr h="47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Gear ratio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≈1:20 (interpolated for this speed step)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008491"/>
                  </a:ext>
                </a:extLst>
              </a:tr>
              <a:tr h="596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Rated torque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≈5–6 kg·cm @ 12 V (interpolated — confirm with your supplier's datasheet)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130389"/>
                  </a:ext>
                </a:extLst>
              </a:tr>
              <a:tr h="47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No-load current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1.1 A @ 12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000270"/>
                  </a:ext>
                </a:extLst>
              </a:tr>
              <a:tr h="47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Stall current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~20 A @ 12 V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7635615"/>
                  </a:ext>
                </a:extLst>
              </a:tr>
              <a:tr h="47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Shaft diameter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 mm, D-shaped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323917"/>
                  </a:ext>
                </a:extLst>
              </a:tr>
              <a:tr h="60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Weight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~300 g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0970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AD02C5B-A4F7-8A12-4592-F936DD0537E5}"/>
              </a:ext>
            </a:extLst>
          </p:cNvPr>
          <p:cNvSpPr txBox="1"/>
          <p:nvPr/>
        </p:nvSpPr>
        <p:spPr>
          <a:xfrm>
            <a:off x="5255288" y="20095"/>
            <a:ext cx="52452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Motor details</a:t>
            </a:r>
          </a:p>
          <a:p>
            <a:pPr algn="ctr"/>
            <a:r>
              <a:rPr lang="en-US" sz="2400" dirty="0"/>
              <a:t>JGB37-550 DC Gear Motor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82345401"/>
      </p:ext>
    </p:extLst>
  </p:cSld>
  <p:clrMapOvr>
    <a:masterClrMapping/>
  </p:clrMapOvr>
  <p:transition spd="med"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D0A8-3D51-8A89-2F8F-BBDA42AD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0E129E-A1D5-34EE-D1BD-3A1DCAF78466}"/>
              </a:ext>
            </a:extLst>
          </p:cNvPr>
          <p:cNvSpPr/>
          <p:nvPr/>
        </p:nvSpPr>
        <p:spPr>
          <a:xfrm>
            <a:off x="4291207" y="0"/>
            <a:ext cx="7900793" cy="6858000"/>
          </a:xfrm>
          <a:prstGeom prst="rect">
            <a:avLst/>
          </a:prstGeom>
          <a:gradFill>
            <a:gsLst>
              <a:gs pos="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alpha val="0"/>
                  <a:lumMod val="10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                                </a:t>
            </a:r>
            <a:r>
              <a:rPr lang="en-US" sz="3200" b="1" dirty="0">
                <a:solidFill>
                  <a:schemeClr val="tx1"/>
                </a:solidFill>
              </a:rPr>
              <a:t>Problems we faced:-</a:t>
            </a:r>
          </a:p>
          <a:p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1.Difficulty in selecting the appropriate sheet metal thickness.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2.Maintaining dimensional accuracy during fabrication.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3.Ensuring proper alignment of chassis components.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4.Communication and coordination issues with the fabrication engineers at </a:t>
            </a:r>
            <a:r>
              <a:rPr lang="en-US" sz="2400" b="1" dirty="0" err="1">
                <a:solidFill>
                  <a:schemeClr val="tx1"/>
                </a:solidFill>
              </a:rPr>
              <a:t>Patuatuli</a:t>
            </a:r>
            <a:r>
              <a:rPr lang="en-US" sz="2400" b="1" dirty="0">
                <a:solidFill>
                  <a:schemeClr val="tx1"/>
                </a:solidFill>
              </a:rPr>
              <a:t>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5.Delays due to heavy traffic while traveling to and from the workshop.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6.Multiple design modifications during the fabrication process.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7.Time constraints caused by repeated adjustments and rework.</a:t>
            </a:r>
            <a:br>
              <a:rPr lang="en-US" sz="2400" b="1" dirty="0">
                <a:solidFill>
                  <a:schemeClr val="tx1"/>
                </a:solidFill>
              </a:rPr>
            </a:br>
            <a:r>
              <a:rPr lang="en-US" sz="2400" b="1" dirty="0">
                <a:solidFill>
                  <a:schemeClr val="tx1"/>
                </a:solidFill>
              </a:rPr>
              <a:t>8.Limited availability of suitable materials and fabrication resources.</a:t>
            </a:r>
          </a:p>
        </p:txBody>
      </p:sp>
      <p:sp useBgFill="1">
        <p:nvSpPr>
          <p:cNvPr id="7" name="Flowchart: Summing Junction 6">
            <a:extLst>
              <a:ext uri="{FF2B5EF4-FFF2-40B4-BE49-F238E27FC236}">
                <a16:creationId xmlns:a16="http://schemas.microsoft.com/office/drawing/2014/main" id="{EDB664E1-BF72-4BF2-1409-C83735BCE68B}"/>
              </a:ext>
            </a:extLst>
          </p:cNvPr>
          <p:cNvSpPr/>
          <p:nvPr/>
        </p:nvSpPr>
        <p:spPr>
          <a:xfrm>
            <a:off x="-3629417" y="-253652"/>
            <a:ext cx="7625220" cy="7365304"/>
          </a:xfrm>
          <a:prstGeom prst="flowChartSummingJunction">
            <a:avLst/>
          </a:prstGeom>
          <a:ln w="12700"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Oval 7">
            <a:extLst>
              <a:ext uri="{FF2B5EF4-FFF2-40B4-BE49-F238E27FC236}">
                <a16:creationId xmlns:a16="http://schemas.microsoft.com/office/drawing/2014/main" id="{C3AA5475-D2BC-9049-3296-FF478B0CC515}"/>
              </a:ext>
            </a:extLst>
          </p:cNvPr>
          <p:cNvSpPr/>
          <p:nvPr/>
        </p:nvSpPr>
        <p:spPr>
          <a:xfrm>
            <a:off x="-1864030" y="1661655"/>
            <a:ext cx="3728059" cy="3534689"/>
          </a:xfrm>
          <a:prstGeom prst="ellipse">
            <a:avLst/>
          </a:prstGeom>
          <a:effectLst>
            <a:outerShdw blurRad="152400" dist="38100" sx="103000" sy="103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DE37D-C7AF-21CE-B599-A19A9E31665E}"/>
              </a:ext>
            </a:extLst>
          </p:cNvPr>
          <p:cNvSpPr txBox="1"/>
          <p:nvPr/>
        </p:nvSpPr>
        <p:spPr>
          <a:xfrm rot="5400000">
            <a:off x="1796905" y="2868135"/>
            <a:ext cx="21780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PART 08 </a:t>
            </a:r>
          </a:p>
          <a:p>
            <a:pPr algn="ctr"/>
            <a:r>
              <a:rPr lang="en-US" sz="2800" b="1" dirty="0"/>
              <a:t>Difficulties</a:t>
            </a:r>
          </a:p>
        </p:txBody>
      </p:sp>
    </p:spTree>
    <p:extLst>
      <p:ext uri="{BB962C8B-B14F-4D97-AF65-F5344CB8AC3E}">
        <p14:creationId xmlns:p14="http://schemas.microsoft.com/office/powerpoint/2010/main" val="3512776010"/>
      </p:ext>
    </p:extLst>
  </p:cSld>
  <p:clrMapOvr>
    <a:masterClrMapping/>
  </p:clrMapOvr>
  <p:transition spd="med">
    <p:split orient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46B-28C2-1604-3F39-4915188E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E1E-C92F-3F4D-42D3-1D3DA1EF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41" y="2979443"/>
            <a:ext cx="10515600" cy="1231106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THANK YOU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C5C72C-D013-69E0-C51E-66012481CC71}"/>
              </a:ext>
            </a:extLst>
          </p:cNvPr>
          <p:cNvSpPr txBox="1"/>
          <p:nvPr/>
        </p:nvSpPr>
        <p:spPr>
          <a:xfrm>
            <a:off x="2826706" y="1810668"/>
            <a:ext cx="653858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This is all Project Update</a:t>
            </a:r>
          </a:p>
          <a:p>
            <a:pPr algn="ctr"/>
            <a:r>
              <a:rPr lang="en-US" sz="2800" b="1" dirty="0"/>
              <a:t>For Week – 05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1186"/>
      </p:ext>
    </p:extLst>
  </p:cSld>
  <p:clrMapOvr>
    <a:masterClrMapping/>
  </p:clrMapOvr>
  <p:transition spd="med">
    <p:split orient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592</Words>
  <Application>Microsoft Office PowerPoint</Application>
  <PresentationFormat>Widescreen</PresentationFormat>
  <Paragraphs>116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ME-366:  Electro-Mechanical System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2210010 - Fahim Muntasir Mahim</dc:creator>
  <cp:lastModifiedBy>2210010 - Fahim Muntasir Mahim</cp:lastModifiedBy>
  <cp:revision>25</cp:revision>
  <dcterms:created xsi:type="dcterms:W3CDTF">2026-07-26T15:17:20Z</dcterms:created>
  <dcterms:modified xsi:type="dcterms:W3CDTF">2026-07-27T09:05:48Z</dcterms:modified>
</cp:coreProperties>
</file>